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71" autoAdjust="0"/>
    <p:restoredTop sz="94660"/>
  </p:normalViewPr>
  <p:slideViewPr>
    <p:cSldViewPr snapToGrid="0">
      <p:cViewPr varScale="1">
        <p:scale>
          <a:sx n="78" d="100"/>
          <a:sy n="78" d="100"/>
        </p:scale>
        <p:origin x="20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bra Odongo" userId="6baaaebec2678689" providerId="LiveId" clId="{F1804DA1-F300-4B68-96E8-164F8C679E75}"/>
    <pc:docChg chg="undo custSel modSld">
      <pc:chgData name="Babra Odongo" userId="6baaaebec2678689" providerId="LiveId" clId="{F1804DA1-F300-4B68-96E8-164F8C679E75}" dt="2025-11-21T22:06:00.316" v="873" actId="2085"/>
      <pc:docMkLst>
        <pc:docMk/>
      </pc:docMkLst>
      <pc:sldChg chg="modSp mod">
        <pc:chgData name="Babra Odongo" userId="6baaaebec2678689" providerId="LiveId" clId="{F1804DA1-F300-4B68-96E8-164F8C679E75}" dt="2025-11-21T20:51:44.755" v="756" actId="14100"/>
        <pc:sldMkLst>
          <pc:docMk/>
          <pc:sldMk cId="1203700487" sldId="256"/>
        </pc:sldMkLst>
        <pc:spChg chg="mod">
          <ac:chgData name="Babra Odongo" userId="6baaaebec2678689" providerId="LiveId" clId="{F1804DA1-F300-4B68-96E8-164F8C679E75}" dt="2025-11-20T17:32:22.155" v="61" actId="113"/>
          <ac:spMkLst>
            <pc:docMk/>
            <pc:sldMk cId="1203700487" sldId="256"/>
            <ac:spMk id="4" creationId="{75F3E97A-8B2D-2A4E-7EBF-B7435818D168}"/>
          </ac:spMkLst>
        </pc:spChg>
        <pc:spChg chg="mod">
          <ac:chgData name="Babra Odongo" userId="6baaaebec2678689" providerId="LiveId" clId="{F1804DA1-F300-4B68-96E8-164F8C679E75}" dt="2025-11-21T20:51:44.755" v="756" actId="14100"/>
          <ac:spMkLst>
            <pc:docMk/>
            <pc:sldMk cId="1203700487" sldId="256"/>
            <ac:spMk id="6" creationId="{F725496D-7713-0A5A-0B10-B4A59AD4D27B}"/>
          </ac:spMkLst>
        </pc:spChg>
      </pc:sldChg>
      <pc:sldChg chg="modSp mod">
        <pc:chgData name="Babra Odongo" userId="6baaaebec2678689" providerId="LiveId" clId="{F1804DA1-F300-4B68-96E8-164F8C679E75}" dt="2025-11-21T20:41:19.326" v="602" actId="403"/>
        <pc:sldMkLst>
          <pc:docMk/>
          <pc:sldMk cId="3055932240" sldId="257"/>
        </pc:sldMkLst>
        <pc:spChg chg="mod">
          <ac:chgData name="Babra Odongo" userId="6baaaebec2678689" providerId="LiveId" clId="{F1804DA1-F300-4B68-96E8-164F8C679E75}" dt="2025-11-20T17:31:04.824" v="48" actId="1076"/>
          <ac:spMkLst>
            <pc:docMk/>
            <pc:sldMk cId="3055932240" sldId="257"/>
            <ac:spMk id="2" creationId="{A86E8EF1-8CF8-4EAD-4482-12F0C805AFD2}"/>
          </ac:spMkLst>
        </pc:spChg>
        <pc:spChg chg="mod">
          <ac:chgData name="Babra Odongo" userId="6baaaebec2678689" providerId="LiveId" clId="{F1804DA1-F300-4B68-96E8-164F8C679E75}" dt="2025-11-21T20:41:19.326" v="602" actId="403"/>
          <ac:spMkLst>
            <pc:docMk/>
            <pc:sldMk cId="3055932240" sldId="257"/>
            <ac:spMk id="5" creationId="{97EE5F90-5C78-B9DC-B883-113B3DA4BDA8}"/>
          </ac:spMkLst>
        </pc:spChg>
      </pc:sldChg>
      <pc:sldChg chg="modSp mod">
        <pc:chgData name="Babra Odongo" userId="6baaaebec2678689" providerId="LiveId" clId="{F1804DA1-F300-4B68-96E8-164F8C679E75}" dt="2025-11-21T20:41:54.116" v="612" actId="27636"/>
        <pc:sldMkLst>
          <pc:docMk/>
          <pc:sldMk cId="2714836189" sldId="258"/>
        </pc:sldMkLst>
        <pc:spChg chg="mod">
          <ac:chgData name="Babra Odongo" userId="6baaaebec2678689" providerId="LiveId" clId="{F1804DA1-F300-4B68-96E8-164F8C679E75}" dt="2025-11-20T17:32:37.571" v="62" actId="1076"/>
          <ac:spMkLst>
            <pc:docMk/>
            <pc:sldMk cId="2714836189" sldId="258"/>
            <ac:spMk id="2" creationId="{916693B6-7CBE-35B3-189F-281A62785D07}"/>
          </ac:spMkLst>
        </pc:spChg>
        <pc:spChg chg="mod">
          <ac:chgData name="Babra Odongo" userId="6baaaebec2678689" providerId="LiveId" clId="{F1804DA1-F300-4B68-96E8-164F8C679E75}" dt="2025-11-21T20:41:54.116" v="612" actId="27636"/>
          <ac:spMkLst>
            <pc:docMk/>
            <pc:sldMk cId="2714836189" sldId="258"/>
            <ac:spMk id="3" creationId="{1161F1C7-97F0-1312-DC25-AD103B4CBA0A}"/>
          </ac:spMkLst>
        </pc:spChg>
      </pc:sldChg>
      <pc:sldChg chg="addSp modSp mod">
        <pc:chgData name="Babra Odongo" userId="6baaaebec2678689" providerId="LiveId" clId="{F1804DA1-F300-4B68-96E8-164F8C679E75}" dt="2025-11-21T21:31:34.430" v="858" actId="20577"/>
        <pc:sldMkLst>
          <pc:docMk/>
          <pc:sldMk cId="2164255144" sldId="259"/>
        </pc:sldMkLst>
        <pc:spChg chg="mod">
          <ac:chgData name="Babra Odongo" userId="6baaaebec2678689" providerId="LiveId" clId="{F1804DA1-F300-4B68-96E8-164F8C679E75}" dt="2025-11-20T17:31:52.834" v="55" actId="1076"/>
          <ac:spMkLst>
            <pc:docMk/>
            <pc:sldMk cId="2164255144" sldId="259"/>
            <ac:spMk id="2" creationId="{ED8F4F8F-F673-A5C6-66E3-6717BF4891F4}"/>
          </ac:spMkLst>
        </pc:spChg>
        <pc:spChg chg="mod">
          <ac:chgData name="Babra Odongo" userId="6baaaebec2678689" providerId="LiveId" clId="{F1804DA1-F300-4B68-96E8-164F8C679E75}" dt="2025-11-21T21:31:34.430" v="858" actId="20577"/>
          <ac:spMkLst>
            <pc:docMk/>
            <pc:sldMk cId="2164255144" sldId="259"/>
            <ac:spMk id="3" creationId="{3E259B64-43F9-56C6-5899-5BA3D3E0F0BB}"/>
          </ac:spMkLst>
        </pc:spChg>
        <pc:spChg chg="add">
          <ac:chgData name="Babra Odongo" userId="6baaaebec2678689" providerId="LiveId" clId="{F1804DA1-F300-4B68-96E8-164F8C679E75}" dt="2025-11-20T17:24:09.568" v="27"/>
          <ac:spMkLst>
            <pc:docMk/>
            <pc:sldMk cId="2164255144" sldId="259"/>
            <ac:spMk id="4" creationId="{33C3E497-589B-973F-CE1A-43FDB283ED8D}"/>
          </ac:spMkLst>
        </pc:spChg>
        <pc:spChg chg="add">
          <ac:chgData name="Babra Odongo" userId="6baaaebec2678689" providerId="LiveId" clId="{F1804DA1-F300-4B68-96E8-164F8C679E75}" dt="2025-11-20T17:24:17.915" v="30"/>
          <ac:spMkLst>
            <pc:docMk/>
            <pc:sldMk cId="2164255144" sldId="259"/>
            <ac:spMk id="5" creationId="{F402AF84-B55D-F6A4-5973-279C40B5A2A1}"/>
          </ac:spMkLst>
        </pc:spChg>
      </pc:sldChg>
      <pc:sldChg chg="modSp mod">
        <pc:chgData name="Babra Odongo" userId="6baaaebec2678689" providerId="LiveId" clId="{F1804DA1-F300-4B68-96E8-164F8C679E75}" dt="2025-11-21T20:43:35.401" v="649" actId="403"/>
        <pc:sldMkLst>
          <pc:docMk/>
          <pc:sldMk cId="1073278153" sldId="260"/>
        </pc:sldMkLst>
        <pc:spChg chg="mod">
          <ac:chgData name="Babra Odongo" userId="6baaaebec2678689" providerId="LiveId" clId="{F1804DA1-F300-4B68-96E8-164F8C679E75}" dt="2025-11-20T17:32:13.656" v="60" actId="14100"/>
          <ac:spMkLst>
            <pc:docMk/>
            <pc:sldMk cId="1073278153" sldId="260"/>
            <ac:spMk id="2" creationId="{6B487C66-3724-797C-B302-12D4EFA76DEA}"/>
          </ac:spMkLst>
        </pc:spChg>
        <pc:spChg chg="mod">
          <ac:chgData name="Babra Odongo" userId="6baaaebec2678689" providerId="LiveId" clId="{F1804DA1-F300-4B68-96E8-164F8C679E75}" dt="2025-11-21T20:43:35.401" v="649" actId="403"/>
          <ac:spMkLst>
            <pc:docMk/>
            <pc:sldMk cId="1073278153" sldId="260"/>
            <ac:spMk id="3" creationId="{1D1441BE-6A26-07E8-0447-559576238CF0}"/>
          </ac:spMkLst>
        </pc:spChg>
      </pc:sldChg>
      <pc:sldChg chg="addSp modSp mod">
        <pc:chgData name="Babra Odongo" userId="6baaaebec2678689" providerId="LiveId" clId="{F1804DA1-F300-4B68-96E8-164F8C679E75}" dt="2025-11-21T20:48:56.158" v="720" actId="1076"/>
        <pc:sldMkLst>
          <pc:docMk/>
          <pc:sldMk cId="2319045650" sldId="261"/>
        </pc:sldMkLst>
        <pc:graphicFrameChg chg="add mod">
          <ac:chgData name="Babra Odongo" userId="6baaaebec2678689" providerId="LiveId" clId="{F1804DA1-F300-4B68-96E8-164F8C679E75}" dt="2025-11-21T20:44:56.945" v="671" actId="14100"/>
          <ac:graphicFrameMkLst>
            <pc:docMk/>
            <pc:sldMk cId="2319045650" sldId="261"/>
            <ac:graphicFrameMk id="2" creationId="{5FC89D95-7EC3-449C-BF2E-C505F188539E}"/>
          </ac:graphicFrameMkLst>
        </pc:graphicFrameChg>
        <pc:graphicFrameChg chg="add mod">
          <ac:chgData name="Babra Odongo" userId="6baaaebec2678689" providerId="LiveId" clId="{F1804DA1-F300-4B68-96E8-164F8C679E75}" dt="2025-11-21T20:48:56.158" v="720" actId="1076"/>
          <ac:graphicFrameMkLst>
            <pc:docMk/>
            <pc:sldMk cId="2319045650" sldId="261"/>
            <ac:graphicFrameMk id="3" creationId="{CEABCFD7-0E9D-4B55-B017-BD00DC2FA549}"/>
          </ac:graphicFrameMkLst>
        </pc:graphicFrameChg>
      </pc:sldChg>
      <pc:sldChg chg="addSp modSp mod">
        <pc:chgData name="Babra Odongo" userId="6baaaebec2678689" providerId="LiveId" clId="{F1804DA1-F300-4B68-96E8-164F8C679E75}" dt="2025-11-21T20:48:16.106" v="710" actId="27918"/>
        <pc:sldMkLst>
          <pc:docMk/>
          <pc:sldMk cId="1734563134" sldId="262"/>
        </pc:sldMkLst>
        <pc:graphicFrameChg chg="add mod">
          <ac:chgData name="Babra Odongo" userId="6baaaebec2678689" providerId="LiveId" clId="{F1804DA1-F300-4B68-96E8-164F8C679E75}" dt="2025-11-21T20:45:14.611" v="674" actId="14100"/>
          <ac:graphicFrameMkLst>
            <pc:docMk/>
            <pc:sldMk cId="1734563134" sldId="262"/>
            <ac:graphicFrameMk id="2" creationId="{F1163698-BD6F-4B6F-B9DD-F619295656CE}"/>
          </ac:graphicFrameMkLst>
        </pc:graphicFrameChg>
      </pc:sldChg>
      <pc:sldChg chg="addSp modSp mod">
        <pc:chgData name="Babra Odongo" userId="6baaaebec2678689" providerId="LiveId" clId="{F1804DA1-F300-4B68-96E8-164F8C679E75}" dt="2025-11-21T22:03:53.750" v="867" actId="14100"/>
        <pc:sldMkLst>
          <pc:docMk/>
          <pc:sldMk cId="2758726186" sldId="263"/>
        </pc:sldMkLst>
        <pc:graphicFrameChg chg="add mod">
          <ac:chgData name="Babra Odongo" userId="6baaaebec2678689" providerId="LiveId" clId="{F1804DA1-F300-4B68-96E8-164F8C679E75}" dt="2025-11-21T21:15:21.893" v="778" actId="14100"/>
          <ac:graphicFrameMkLst>
            <pc:docMk/>
            <pc:sldMk cId="2758726186" sldId="263"/>
            <ac:graphicFrameMk id="2" creationId="{CCDFF277-4CB0-4541-A6A2-E14C8DB7168D}"/>
          </ac:graphicFrameMkLst>
        </pc:graphicFrameChg>
        <pc:graphicFrameChg chg="add mod">
          <ac:chgData name="Babra Odongo" userId="6baaaebec2678689" providerId="LiveId" clId="{F1804DA1-F300-4B68-96E8-164F8C679E75}" dt="2025-11-21T22:03:53.750" v="867" actId="14100"/>
          <ac:graphicFrameMkLst>
            <pc:docMk/>
            <pc:sldMk cId="2758726186" sldId="263"/>
            <ac:graphicFrameMk id="3" creationId="{94655923-BACD-4A6A-B8A6-F42FAE7E3E68}"/>
          </ac:graphicFrameMkLst>
        </pc:graphicFrameChg>
      </pc:sldChg>
      <pc:sldChg chg="addSp modSp mod">
        <pc:chgData name="Babra Odongo" userId="6baaaebec2678689" providerId="LiveId" clId="{F1804DA1-F300-4B68-96E8-164F8C679E75}" dt="2025-11-21T22:06:00.316" v="873" actId="2085"/>
        <pc:sldMkLst>
          <pc:docMk/>
          <pc:sldMk cId="2191173123" sldId="264"/>
        </pc:sldMkLst>
        <pc:graphicFrameChg chg="add mod">
          <ac:chgData name="Babra Odongo" userId="6baaaebec2678689" providerId="LiveId" clId="{F1804DA1-F300-4B68-96E8-164F8C679E75}" dt="2025-11-21T22:06:00.316" v="873" actId="2085"/>
          <ac:graphicFrameMkLst>
            <pc:docMk/>
            <pc:sldMk cId="2191173123" sldId="264"/>
            <ac:graphicFrameMk id="2" creationId="{2532EF10-38D6-442C-9EB2-447E18091D38}"/>
          </ac:graphicFrameMkLst>
        </pc:graphicFrameChg>
      </pc:sldChg>
      <pc:sldChg chg="modSp mod">
        <pc:chgData name="Babra Odongo" userId="6baaaebec2678689" providerId="LiveId" clId="{F1804DA1-F300-4B68-96E8-164F8C679E75}" dt="2025-11-21T21:33:08.523" v="864" actId="14100"/>
        <pc:sldMkLst>
          <pc:docMk/>
          <pc:sldMk cId="1135837991" sldId="265"/>
        </pc:sldMkLst>
        <pc:spChg chg="mod">
          <ac:chgData name="Babra Odongo" userId="6baaaebec2678689" providerId="LiveId" clId="{F1804DA1-F300-4B68-96E8-164F8C679E75}" dt="2025-11-21T20:39:31.649" v="576"/>
          <ac:spMkLst>
            <pc:docMk/>
            <pc:sldMk cId="1135837991" sldId="265"/>
            <ac:spMk id="2" creationId="{C1E164DD-B1D2-FE26-2D41-F46BDE3FC043}"/>
          </ac:spMkLst>
        </pc:spChg>
        <pc:spChg chg="mod">
          <ac:chgData name="Babra Odongo" userId="6baaaebec2678689" providerId="LiveId" clId="{F1804DA1-F300-4B68-96E8-164F8C679E75}" dt="2025-11-21T21:33:08.523" v="864" actId="14100"/>
          <ac:spMkLst>
            <pc:docMk/>
            <pc:sldMk cId="1135837991" sldId="265"/>
            <ac:spMk id="3" creationId="{93DB31DA-2F3A-C592-2D0D-A802B27FCCCA}"/>
          </ac:spMkLst>
        </pc:spChg>
      </pc:sldChg>
      <pc:sldChg chg="addSp delSp modSp mod">
        <pc:chgData name="Babra Odongo" userId="6baaaebec2678689" providerId="LiveId" clId="{F1804DA1-F300-4B68-96E8-164F8C679E75}" dt="2025-11-21T21:25:26.329" v="836" actId="14100"/>
        <pc:sldMkLst>
          <pc:docMk/>
          <pc:sldMk cId="3892205367" sldId="266"/>
        </pc:sldMkLst>
        <pc:spChg chg="mod">
          <ac:chgData name="Babra Odongo" userId="6baaaebec2678689" providerId="LiveId" clId="{F1804DA1-F300-4B68-96E8-164F8C679E75}" dt="2025-11-21T20:39:31.649" v="576"/>
          <ac:spMkLst>
            <pc:docMk/>
            <pc:sldMk cId="3892205367" sldId="266"/>
            <ac:spMk id="2" creationId="{C84919A4-5264-EB7E-F920-1CE9E2954F7F}"/>
          </ac:spMkLst>
        </pc:spChg>
        <pc:spChg chg="add del mod">
          <ac:chgData name="Babra Odongo" userId="6baaaebec2678689" providerId="LiveId" clId="{F1804DA1-F300-4B68-96E8-164F8C679E75}" dt="2025-11-21T21:25:26.329" v="836" actId="14100"/>
          <ac:spMkLst>
            <pc:docMk/>
            <pc:sldMk cId="3892205367" sldId="266"/>
            <ac:spMk id="3" creationId="{952D1788-F56D-854F-70BD-39FB69E94F60}"/>
          </ac:spMkLst>
        </pc:spChg>
        <pc:spChg chg="add mod">
          <ac:chgData name="Babra Odongo" userId="6baaaebec2678689" providerId="LiveId" clId="{F1804DA1-F300-4B68-96E8-164F8C679E75}" dt="2025-11-21T21:19:08.383" v="801"/>
          <ac:spMkLst>
            <pc:docMk/>
            <pc:sldMk cId="3892205367" sldId="266"/>
            <ac:spMk id="4" creationId="{6125270F-7021-E9C0-5AC3-39139E605C68}"/>
          </ac:spMkLst>
        </pc:spChg>
      </pc:sldChg>
      <pc:sldChg chg="addSp delSp modSp mod modClrScheme chgLayout">
        <pc:chgData name="Babra Odongo" userId="6baaaebec2678689" providerId="LiveId" clId="{F1804DA1-F300-4B68-96E8-164F8C679E75}" dt="2025-11-21T20:50:21.197" v="745" actId="14100"/>
        <pc:sldMkLst>
          <pc:docMk/>
          <pc:sldMk cId="3518065780" sldId="267"/>
        </pc:sldMkLst>
        <pc:spChg chg="mod ord">
          <ac:chgData name="Babra Odongo" userId="6baaaebec2678689" providerId="LiveId" clId="{F1804DA1-F300-4B68-96E8-164F8C679E75}" dt="2025-11-21T20:40:03.207" v="584" actId="1076"/>
          <ac:spMkLst>
            <pc:docMk/>
            <pc:sldMk cId="3518065780" sldId="267"/>
            <ac:spMk id="2" creationId="{AB5B1DBC-B099-3E53-A655-53A8176D7455}"/>
          </ac:spMkLst>
        </pc:spChg>
        <pc:spChg chg="del">
          <ac:chgData name="Babra Odongo" userId="6baaaebec2678689" providerId="LiveId" clId="{F1804DA1-F300-4B68-96E8-164F8C679E75}" dt="2025-11-20T17:21:04.739" v="0" actId="700"/>
          <ac:spMkLst>
            <pc:docMk/>
            <pc:sldMk cId="3518065780" sldId="267"/>
            <ac:spMk id="11" creationId="{0C888140-7AB7-3AD2-9A63-D2651EBE1766}"/>
          </ac:spMkLst>
        </pc:spChg>
        <pc:spChg chg="add del mod ord">
          <ac:chgData name="Babra Odongo" userId="6baaaebec2678689" providerId="LiveId" clId="{F1804DA1-F300-4B68-96E8-164F8C679E75}" dt="2025-11-20T17:21:11.839" v="3"/>
          <ac:spMkLst>
            <pc:docMk/>
            <pc:sldMk cId="3518065780" sldId="267"/>
            <ac:spMk id="12" creationId="{76F98B2E-C7D4-C0AB-9DF7-A68A0756EA0B}"/>
          </ac:spMkLst>
        </pc:spChg>
        <pc:spChg chg="add del mod">
          <ac:chgData name="Babra Odongo" userId="6baaaebec2678689" providerId="LiveId" clId="{F1804DA1-F300-4B68-96E8-164F8C679E75}" dt="2025-11-20T17:21:14.540" v="4" actId="478"/>
          <ac:spMkLst>
            <pc:docMk/>
            <pc:sldMk cId="3518065780" sldId="267"/>
            <ac:spMk id="13" creationId="{955E1954-773B-1E2B-7740-E9E1DA0C54CD}"/>
          </ac:spMkLst>
        </pc:spChg>
        <pc:spChg chg="add del mod ord">
          <ac:chgData name="Babra Odongo" userId="6baaaebec2678689" providerId="LiveId" clId="{F1804DA1-F300-4B68-96E8-164F8C679E75}" dt="2025-11-20T17:21:44.166" v="10" actId="700"/>
          <ac:spMkLst>
            <pc:docMk/>
            <pc:sldMk cId="3518065780" sldId="267"/>
            <ac:spMk id="14" creationId="{33241A1D-4B4A-C170-A6FD-704D5BCAED73}"/>
          </ac:spMkLst>
        </pc:spChg>
        <pc:spChg chg="add mod">
          <ac:chgData name="Babra Odongo" userId="6baaaebec2678689" providerId="LiveId" clId="{F1804DA1-F300-4B68-96E8-164F8C679E75}" dt="2025-11-20T17:21:34.110" v="8"/>
          <ac:spMkLst>
            <pc:docMk/>
            <pc:sldMk cId="3518065780" sldId="267"/>
            <ac:spMk id="15" creationId="{70189A3F-173F-E29E-B8C2-773F36DFD718}"/>
          </ac:spMkLst>
        </pc:spChg>
        <pc:spChg chg="add mod ord">
          <ac:chgData name="Babra Odongo" userId="6baaaebec2678689" providerId="LiveId" clId="{F1804DA1-F300-4B68-96E8-164F8C679E75}" dt="2025-11-21T20:50:21.197" v="745" actId="14100"/>
          <ac:spMkLst>
            <pc:docMk/>
            <pc:sldMk cId="3518065780" sldId="267"/>
            <ac:spMk id="16" creationId="{4DAD4496-4168-389F-3F7B-83338B299DF8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Documents/City%20Hospital%20Dataset%20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Documents/City%20Hospital%20Dataset%20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Documents/City%20Hospital%20Dataset%20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Documents/City%20Hospital%20Dataset%20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Documents/City%20Hospital%20Dataset%20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Documents/City%20Hospital%20Dataset%20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[City Hospital Dataset .xlsx]Pivot Tables!PivotTable17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>
                <a:solidFill>
                  <a:schemeClr val="tx1"/>
                </a:solidFill>
              </a:rPr>
              <a:t>Patient</a:t>
            </a:r>
            <a:r>
              <a:rPr lang="en-US" sz="2800" b="1" baseline="0" dirty="0">
                <a:solidFill>
                  <a:schemeClr val="tx1"/>
                </a:solidFill>
              </a:rPr>
              <a:t> Demographics</a:t>
            </a:r>
            <a:endParaRPr lang="en-US" sz="2800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alpha val="81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alpha val="94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alpha val="83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alpha val="81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alpha val="94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alpha val="83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alpha val="81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alpha val="94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alpha val="83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0472044842739624"/>
          <c:y val="0.13697050212854675"/>
          <c:w val="0.88610971883134748"/>
          <c:h val="0.709585636075743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Tables'!$B$3:$B$4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alpha val="81000"/>
                </a:schemeClr>
              </a:solidFill>
            </a:ln>
            <a:effectLst/>
          </c:spPr>
          <c:invertIfNegative val="0"/>
          <c:cat>
            <c:strRef>
              <c:f>'Pivot Tables'!$A$5:$A$13</c:f>
              <c:strCache>
                <c:ptCount val="8"/>
                <c:pt idx="0">
                  <c:v>50 - 59</c:v>
                </c:pt>
                <c:pt idx="1">
                  <c:v>30 - 39</c:v>
                </c:pt>
                <c:pt idx="2">
                  <c:v>40 - 49</c:v>
                </c:pt>
                <c:pt idx="3">
                  <c:v>70 - 79</c:v>
                </c:pt>
                <c:pt idx="4">
                  <c:v>60 - 69</c:v>
                </c:pt>
                <c:pt idx="5">
                  <c:v>20 - 29</c:v>
                </c:pt>
                <c:pt idx="6">
                  <c:v>80 - 89</c:v>
                </c:pt>
                <c:pt idx="7">
                  <c:v>10 - 19</c:v>
                </c:pt>
              </c:strCache>
            </c:strRef>
          </c:cat>
          <c:val>
            <c:numRef>
              <c:f>'Pivot Tables'!$B$5:$B$13</c:f>
              <c:numCache>
                <c:formatCode>General</c:formatCode>
                <c:ptCount val="8"/>
                <c:pt idx="0">
                  <c:v>4178</c:v>
                </c:pt>
                <c:pt idx="1">
                  <c:v>4103</c:v>
                </c:pt>
                <c:pt idx="2">
                  <c:v>4066</c:v>
                </c:pt>
                <c:pt idx="3">
                  <c:v>4057</c:v>
                </c:pt>
                <c:pt idx="4">
                  <c:v>4056</c:v>
                </c:pt>
                <c:pt idx="5">
                  <c:v>3968</c:v>
                </c:pt>
                <c:pt idx="6">
                  <c:v>2461</c:v>
                </c:pt>
                <c:pt idx="7">
                  <c:v>861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5B-4419-8D69-AAC258F5FBB6}"/>
            </c:ext>
          </c:extLst>
        </c:ser>
        <c:ser>
          <c:idx val="1"/>
          <c:order val="1"/>
          <c:tx>
            <c:strRef>
              <c:f>'Pivot Tables'!$C$3:$C$4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alpha val="94000"/>
                </a:schemeClr>
              </a:solidFill>
            </a:ln>
            <a:effectLst/>
          </c:spPr>
          <c:invertIfNegative val="0"/>
          <c:cat>
            <c:strRef>
              <c:f>'Pivot Tables'!$A$5:$A$13</c:f>
              <c:strCache>
                <c:ptCount val="8"/>
                <c:pt idx="0">
                  <c:v>50 - 59</c:v>
                </c:pt>
                <c:pt idx="1">
                  <c:v>30 - 39</c:v>
                </c:pt>
                <c:pt idx="2">
                  <c:v>40 - 49</c:v>
                </c:pt>
                <c:pt idx="3">
                  <c:v>70 - 79</c:v>
                </c:pt>
                <c:pt idx="4">
                  <c:v>60 - 69</c:v>
                </c:pt>
                <c:pt idx="5">
                  <c:v>20 - 29</c:v>
                </c:pt>
                <c:pt idx="6">
                  <c:v>80 - 89</c:v>
                </c:pt>
                <c:pt idx="7">
                  <c:v>10 - 19</c:v>
                </c:pt>
              </c:strCache>
            </c:strRef>
          </c:cat>
          <c:val>
            <c:numRef>
              <c:f>'Pivot Tables'!$C$5:$C$13</c:f>
              <c:numCache>
                <c:formatCode>General</c:formatCode>
                <c:ptCount val="8"/>
                <c:pt idx="0">
                  <c:v>3343</c:v>
                </c:pt>
                <c:pt idx="1">
                  <c:v>3272</c:v>
                </c:pt>
                <c:pt idx="2">
                  <c:v>3219</c:v>
                </c:pt>
                <c:pt idx="3">
                  <c:v>3209</c:v>
                </c:pt>
                <c:pt idx="4">
                  <c:v>3299</c:v>
                </c:pt>
                <c:pt idx="5">
                  <c:v>3219</c:v>
                </c:pt>
                <c:pt idx="6">
                  <c:v>1966</c:v>
                </c:pt>
                <c:pt idx="7">
                  <c:v>673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5B-4419-8D69-AAC258F5FBB6}"/>
            </c:ext>
          </c:extLst>
        </c:ser>
        <c:ser>
          <c:idx val="2"/>
          <c:order val="2"/>
          <c:tx>
            <c:strRef>
              <c:f>'Pivot Tables'!$D$3:$D$4</c:f>
              <c:strCache>
                <c:ptCount val="1"/>
                <c:pt idx="0">
                  <c:v>Non-binary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alpha val="83000"/>
                </a:schemeClr>
              </a:solidFill>
            </a:ln>
            <a:effectLst/>
          </c:spPr>
          <c:invertIfNegative val="0"/>
          <c:cat>
            <c:strRef>
              <c:f>'Pivot Tables'!$A$5:$A$13</c:f>
              <c:strCache>
                <c:ptCount val="8"/>
                <c:pt idx="0">
                  <c:v>50 - 59</c:v>
                </c:pt>
                <c:pt idx="1">
                  <c:v>30 - 39</c:v>
                </c:pt>
                <c:pt idx="2">
                  <c:v>40 - 49</c:v>
                </c:pt>
                <c:pt idx="3">
                  <c:v>70 - 79</c:v>
                </c:pt>
                <c:pt idx="4">
                  <c:v>60 - 69</c:v>
                </c:pt>
                <c:pt idx="5">
                  <c:v>20 - 29</c:v>
                </c:pt>
                <c:pt idx="6">
                  <c:v>80 - 89</c:v>
                </c:pt>
                <c:pt idx="7">
                  <c:v>10 - 19</c:v>
                </c:pt>
              </c:strCache>
            </c:strRef>
          </c:cat>
          <c:val>
            <c:numRef>
              <c:f>'Pivot Tables'!$D$5:$D$13</c:f>
              <c:numCache>
                <c:formatCode>General</c:formatCode>
                <c:ptCount val="8"/>
                <c:pt idx="0">
                  <c:v>829</c:v>
                </c:pt>
                <c:pt idx="1">
                  <c:v>804</c:v>
                </c:pt>
                <c:pt idx="2">
                  <c:v>845</c:v>
                </c:pt>
                <c:pt idx="3">
                  <c:v>806</c:v>
                </c:pt>
                <c:pt idx="4">
                  <c:v>822</c:v>
                </c:pt>
                <c:pt idx="5">
                  <c:v>813</c:v>
                </c:pt>
                <c:pt idx="6">
                  <c:v>472</c:v>
                </c:pt>
                <c:pt idx="7">
                  <c:v>159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45B-4419-8D69-AAC258F5FB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2038206479"/>
        <c:axId val="2038198799"/>
      </c:barChart>
      <c:catAx>
        <c:axId val="2038206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8198799"/>
        <c:crosses val="autoZero"/>
        <c:auto val="1"/>
        <c:lblAlgn val="ctr"/>
        <c:lblOffset val="100"/>
        <c:noMultiLvlLbl val="0"/>
      </c:catAx>
      <c:valAx>
        <c:axId val="20381987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82064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0682115822478712"/>
          <c:y val="0.850593877378231"/>
          <c:w val="0.46628320587236655"/>
          <c:h val="0.1296092020755470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[City Hospital Dataset .xlsx]Pivot Tables!PivotTable25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>
                <a:solidFill>
                  <a:schemeClr val="tx1"/>
                </a:solidFill>
              </a:rPr>
              <a:t>Test</a:t>
            </a:r>
            <a:r>
              <a:rPr lang="en-US" sz="2800" b="1" baseline="0" dirty="0">
                <a:solidFill>
                  <a:schemeClr val="tx1"/>
                </a:solidFill>
              </a:rPr>
              <a:t> Results</a:t>
            </a:r>
            <a:endParaRPr lang="en-US" sz="28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2723038878398692"/>
          <c:y val="0.14367959682496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6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6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6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19366538753945103"/>
          <c:y val="0.32293575795032964"/>
          <c:w val="0.32926827714496859"/>
          <c:h val="0.94207312627588224"/>
        </c:manualLayout>
      </c:layout>
      <c:doughnutChart>
        <c:varyColors val="1"/>
        <c:ser>
          <c:idx val="0"/>
          <c:order val="0"/>
          <c:tx>
            <c:strRef>
              <c:f>'Pivot Tables'!$U$5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</c:spPr>
          <c:dPt>
            <c:idx val="0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068-46AE-9438-52C19C55657E}"/>
              </c:ext>
            </c:extLst>
          </c:dPt>
          <c:dPt>
            <c:idx val="1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068-46AE-9438-52C19C55657E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068-46AE-9438-52C19C55657E}"/>
              </c:ext>
            </c:extLst>
          </c:dPt>
          <c:cat>
            <c:strRef>
              <c:f>'Pivot Tables'!$T$6:$T$9</c:f>
              <c:strCache>
                <c:ptCount val="3"/>
                <c:pt idx="0">
                  <c:v>Abnormal</c:v>
                </c:pt>
                <c:pt idx="1">
                  <c:v>Inconclusive</c:v>
                </c:pt>
                <c:pt idx="2">
                  <c:v>Normal</c:v>
                </c:pt>
              </c:strCache>
            </c:strRef>
          </c:cat>
          <c:val>
            <c:numRef>
              <c:f>'Pivot Tables'!$U$6:$U$9</c:f>
              <c:numCache>
                <c:formatCode>General</c:formatCode>
                <c:ptCount val="3"/>
                <c:pt idx="0">
                  <c:v>30525</c:v>
                </c:pt>
                <c:pt idx="1">
                  <c:v>19425</c:v>
                </c:pt>
                <c:pt idx="2">
                  <c:v>5550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068-46AE-9438-52C19C5565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1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3575778142575246"/>
          <c:y val="0.35261287422717152"/>
          <c:w val="0.30303579221523391"/>
          <c:h val="0.3441465973709200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[City Hospital Dataset .xlsx]Pivot Tables!PivotTable19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>
                <a:solidFill>
                  <a:schemeClr val="tx1"/>
                </a:solidFill>
              </a:rPr>
              <a:t>Insurance</a:t>
            </a:r>
            <a:r>
              <a:rPr lang="en-US" sz="2400" b="1" baseline="0" dirty="0">
                <a:solidFill>
                  <a:schemeClr val="tx1"/>
                </a:solidFill>
              </a:rPr>
              <a:t> Payments</a:t>
            </a:r>
            <a:endParaRPr lang="en-US" sz="24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26611289219171286"/>
          <c:y val="7.6628352490421452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0678342596881273"/>
          <c:y val="0.22390826146731657"/>
          <c:w val="0.86198428773916036"/>
          <c:h val="0.508666369533996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Tables'!$J$3</c:f>
              <c:strCache>
                <c:ptCount val="1"/>
                <c:pt idx="0">
                  <c:v>Average of Billing Amount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'Pivot Tables'!$I$4:$I$8</c:f>
              <c:strCache>
                <c:ptCount val="4"/>
                <c:pt idx="0">
                  <c:v>Medicare</c:v>
                </c:pt>
                <c:pt idx="1">
                  <c:v>UnitedHealthCare</c:v>
                </c:pt>
                <c:pt idx="2">
                  <c:v>Aetna</c:v>
                </c:pt>
                <c:pt idx="3">
                  <c:v>Cigna</c:v>
                </c:pt>
              </c:strCache>
            </c:strRef>
          </c:cat>
          <c:val>
            <c:numRef>
              <c:f>'Pivot Tables'!$J$4:$J$8</c:f>
              <c:numCache>
                <c:formatCode>General</c:formatCode>
                <c:ptCount val="4"/>
                <c:pt idx="0">
                  <c:v>25494.43027884089</c:v>
                </c:pt>
                <c:pt idx="1">
                  <c:v>25588.755464630111</c:v>
                </c:pt>
                <c:pt idx="2">
                  <c:v>25427.704055783914</c:v>
                </c:pt>
                <c:pt idx="3">
                  <c:v>25727.039128238601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F8-4B84-B8E7-3C9D247B12F7}"/>
            </c:ext>
          </c:extLst>
        </c:ser>
        <c:ser>
          <c:idx val="1"/>
          <c:order val="1"/>
          <c:tx>
            <c:strRef>
              <c:f>'Pivot Tables'!$K$3</c:f>
              <c:strCache>
                <c:ptCount val="1"/>
                <c:pt idx="0">
                  <c:v>Count of Patient ID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'Pivot Tables'!$I$4:$I$8</c:f>
              <c:strCache>
                <c:ptCount val="4"/>
                <c:pt idx="0">
                  <c:v>Medicare</c:v>
                </c:pt>
                <c:pt idx="1">
                  <c:v>UnitedHealthCare</c:v>
                </c:pt>
                <c:pt idx="2">
                  <c:v>Aetna</c:v>
                </c:pt>
                <c:pt idx="3">
                  <c:v>Cigna</c:v>
                </c:pt>
              </c:strCache>
            </c:strRef>
          </c:cat>
          <c:val>
            <c:numRef>
              <c:f>'Pivot Tables'!$K$4:$K$8</c:f>
              <c:numCache>
                <c:formatCode>General</c:formatCode>
                <c:ptCount val="4"/>
                <c:pt idx="0">
                  <c:v>27750</c:v>
                </c:pt>
                <c:pt idx="1">
                  <c:v>16650</c:v>
                </c:pt>
                <c:pt idx="2">
                  <c:v>5550</c:v>
                </c:pt>
                <c:pt idx="3">
                  <c:v>5550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F8-4B84-B8E7-3C9D247B12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1712045071"/>
        <c:axId val="1712041711"/>
      </c:barChart>
      <c:catAx>
        <c:axId val="1712045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2041711"/>
        <c:crosses val="autoZero"/>
        <c:auto val="1"/>
        <c:lblAlgn val="ctr"/>
        <c:lblOffset val="100"/>
        <c:noMultiLvlLbl val="0"/>
      </c:catAx>
      <c:valAx>
        <c:axId val="17120417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20450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[City Hospital Dataset .xlsx]Pivot Tables!PivotTable22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>
                <a:solidFill>
                  <a:schemeClr val="tx1"/>
                </a:solidFill>
              </a:rPr>
              <a:t>Medication</a:t>
            </a:r>
            <a:r>
              <a:rPr lang="en-US" sz="2400" b="1" baseline="0" dirty="0">
                <a:solidFill>
                  <a:schemeClr val="tx1"/>
                </a:solidFill>
              </a:rPr>
              <a:t> Usage</a:t>
            </a:r>
            <a:endParaRPr lang="en-US" sz="24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2.280735550258056E-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0085173744443649"/>
          <c:y val="0.23081333339333693"/>
          <c:w val="0.69489200655348882"/>
          <c:h val="0.5402149486216183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'Pivot Tables'!$P$5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'Pivot Tables'!$O$6:$O$11</c:f>
              <c:strCache>
                <c:ptCount val="5"/>
                <c:pt idx="0">
                  <c:v>Lipitor</c:v>
                </c:pt>
                <c:pt idx="1">
                  <c:v>Ibuprofen</c:v>
                </c:pt>
                <c:pt idx="2">
                  <c:v>Aspirin</c:v>
                </c:pt>
                <c:pt idx="3">
                  <c:v>Paracetamol</c:v>
                </c:pt>
                <c:pt idx="4">
                  <c:v>Penicillin</c:v>
                </c:pt>
              </c:strCache>
            </c:strRef>
          </c:cat>
          <c:val>
            <c:numRef>
              <c:f>'Pivot Tables'!$P$6:$P$11</c:f>
              <c:numCache>
                <c:formatCode>General</c:formatCode>
                <c:ptCount val="5"/>
                <c:pt idx="0">
                  <c:v>11140</c:v>
                </c:pt>
                <c:pt idx="1">
                  <c:v>11127</c:v>
                </c:pt>
                <c:pt idx="2">
                  <c:v>11094</c:v>
                </c:pt>
                <c:pt idx="3">
                  <c:v>11071</c:v>
                </c:pt>
                <c:pt idx="4">
                  <c:v>11068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88-4507-AA15-31EF3BA471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38278959"/>
        <c:axId val="2038276079"/>
      </c:barChart>
      <c:catAx>
        <c:axId val="203827895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8276079"/>
        <c:crosses val="autoZero"/>
        <c:auto val="1"/>
        <c:lblAlgn val="ctr"/>
        <c:lblOffset val="100"/>
        <c:noMultiLvlLbl val="0"/>
      </c:catAx>
      <c:valAx>
        <c:axId val="20382760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82789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[City Hospital Dataset .xlsx]Pivot Tables!PivotTable18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>
                <a:solidFill>
                  <a:schemeClr val="tx1"/>
                </a:solidFill>
              </a:rPr>
              <a:t>Admissions</a:t>
            </a:r>
            <a:r>
              <a:rPr lang="en-US" sz="2400" b="1" baseline="0" dirty="0">
                <a:solidFill>
                  <a:schemeClr val="tx1"/>
                </a:solidFill>
              </a:rPr>
              <a:t> Trend</a:t>
            </a:r>
            <a:endParaRPr lang="en-US" sz="24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40419617444925132"/>
          <c:y val="3.096461569916465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alpha val="80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alpha val="80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alpha val="80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474749903563228"/>
          <c:y val="0.17669684526643675"/>
          <c:w val="0.78461930454027939"/>
          <c:h val="0.690823362715467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Tables'!$B$18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alpha val="80000"/>
                </a:schemeClr>
              </a:solidFill>
            </a:ln>
            <a:effectLst/>
          </c:spPr>
          <c:invertIfNegative val="0"/>
          <c:cat>
            <c:strRef>
              <c:f>'Pivot Tables'!$A$19:$A$26</c:f>
              <c:strCache>
                <c:ptCount val="7"/>
                <c:pt idx="0">
                  <c:v>Thursday</c:v>
                </c:pt>
                <c:pt idx="1">
                  <c:v>Tuesday</c:v>
                </c:pt>
                <c:pt idx="2">
                  <c:v>Wednesday</c:v>
                </c:pt>
                <c:pt idx="3">
                  <c:v>Sunday</c:v>
                </c:pt>
                <c:pt idx="4">
                  <c:v>Saturday</c:v>
                </c:pt>
                <c:pt idx="5">
                  <c:v>Friday</c:v>
                </c:pt>
                <c:pt idx="6">
                  <c:v>Monday</c:v>
                </c:pt>
              </c:strCache>
            </c:strRef>
          </c:cat>
          <c:val>
            <c:numRef>
              <c:f>'Pivot Tables'!$B$19:$B$26</c:f>
              <c:numCache>
                <c:formatCode>General</c:formatCode>
                <c:ptCount val="7"/>
                <c:pt idx="0">
                  <c:v>7989</c:v>
                </c:pt>
                <c:pt idx="1">
                  <c:v>7982</c:v>
                </c:pt>
                <c:pt idx="2">
                  <c:v>7950</c:v>
                </c:pt>
                <c:pt idx="3">
                  <c:v>7920</c:v>
                </c:pt>
                <c:pt idx="4">
                  <c:v>7901</c:v>
                </c:pt>
                <c:pt idx="5">
                  <c:v>7892</c:v>
                </c:pt>
                <c:pt idx="6">
                  <c:v>7866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E3-464E-82C7-5108196C32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43410463"/>
        <c:axId val="943391743"/>
      </c:barChart>
      <c:catAx>
        <c:axId val="9434104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3391743"/>
        <c:crosses val="autoZero"/>
        <c:auto val="1"/>
        <c:lblAlgn val="ctr"/>
        <c:lblOffset val="100"/>
        <c:noMultiLvlLbl val="0"/>
      </c:catAx>
      <c:valAx>
        <c:axId val="9433917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34104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[City Hospital Dataset .xlsx]Pivot Tables!PivotTable20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>
                <a:solidFill>
                  <a:schemeClr val="tx1"/>
                </a:solidFill>
              </a:rPr>
              <a:t>Doctor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chemeClr val="tx1"/>
                </a:solidFill>
              </a:rPr>
              <a:t>workload</a:t>
            </a:r>
            <a:r>
              <a:rPr lang="en-US" sz="2800" b="1" baseline="0" dirty="0"/>
              <a:t> </a:t>
            </a:r>
            <a:endParaRPr lang="en-US" sz="2800" b="1" dirty="0"/>
          </a:p>
        </c:rich>
      </c:tx>
      <c:layout>
        <c:manualLayout>
          <c:xMode val="edge"/>
          <c:yMode val="edge"/>
          <c:x val="0.29381722032816893"/>
          <c:y val="1.711619515517335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 w="3175" cmpd="dbl">
            <a:gradFill>
              <a:gsLst>
                <a:gs pos="6294">
                  <a:schemeClr val="accent6"/>
                </a:gs>
                <a:gs pos="20979">
                  <a:schemeClr val="accent6"/>
                </a:gs>
                <a:gs pos="74000">
                  <a:schemeClr val="accent6"/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9000000" scaled="0"/>
            </a:gra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 w="3175" cmpd="dbl">
            <a:gradFill>
              <a:gsLst>
                <a:gs pos="6294">
                  <a:schemeClr val="accent6"/>
                </a:gs>
                <a:gs pos="20979">
                  <a:schemeClr val="accent6"/>
                </a:gs>
                <a:gs pos="74000">
                  <a:schemeClr val="accent6"/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9000000" scaled="0"/>
            </a:gra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 w="3175" cmpd="dbl">
            <a:gradFill>
              <a:gsLst>
                <a:gs pos="6294">
                  <a:schemeClr val="accent6"/>
                </a:gs>
                <a:gs pos="20979">
                  <a:schemeClr val="accent6"/>
                </a:gs>
                <a:gs pos="74000">
                  <a:schemeClr val="accent6"/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9000000" scaled="0"/>
            </a:gra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5162093646144062"/>
          <c:y val="8.1195795539518278E-2"/>
          <c:w val="0.80119946610769222"/>
          <c:h val="0.6715809858445167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Tables'!$J$11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  <a:ln w="3175" cmpd="dbl">
              <a:gradFill>
                <a:gsLst>
                  <a:gs pos="6294">
                    <a:schemeClr val="accent6"/>
                  </a:gs>
                  <a:gs pos="20979">
                    <a:schemeClr val="accent6"/>
                  </a:gs>
                  <a:gs pos="74000">
                    <a:schemeClr val="accent6"/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9000000" scaled="0"/>
              </a:gradFill>
            </a:ln>
            <a:effectLst/>
          </c:spPr>
          <c:invertIfNegative val="0"/>
          <c:cat>
            <c:strRef>
              <c:f>'Pivot Tables'!$I$12:$I$23</c:f>
              <c:strCache>
                <c:ptCount val="11"/>
                <c:pt idx="0">
                  <c:v>Matthew Smith</c:v>
                </c:pt>
                <c:pt idx="1">
                  <c:v>Christopher Smith</c:v>
                </c:pt>
                <c:pt idx="2">
                  <c:v>John Johnson</c:v>
                </c:pt>
                <c:pt idx="3">
                  <c:v>Michael Williams</c:v>
                </c:pt>
                <c:pt idx="4">
                  <c:v>David Smith</c:v>
                </c:pt>
                <c:pt idx="5">
                  <c:v>Robert Johnson</c:v>
                </c:pt>
                <c:pt idx="6">
                  <c:v>Michael Johnson</c:v>
                </c:pt>
                <c:pt idx="7">
                  <c:v>James Smith</c:v>
                </c:pt>
                <c:pt idx="8">
                  <c:v>John Smith</c:v>
                </c:pt>
                <c:pt idx="9">
                  <c:v>Robert Smith</c:v>
                </c:pt>
                <c:pt idx="10">
                  <c:v>Michael Smith</c:v>
                </c:pt>
              </c:strCache>
            </c:strRef>
          </c:cat>
          <c:val>
            <c:numRef>
              <c:f>'Pivot Tables'!$J$12:$J$23</c:f>
              <c:numCache>
                <c:formatCode>General</c:formatCode>
                <c:ptCount val="11"/>
                <c:pt idx="0">
                  <c:v>17</c:v>
                </c:pt>
                <c:pt idx="1">
                  <c:v>17</c:v>
                </c:pt>
                <c:pt idx="2">
                  <c:v>17</c:v>
                </c:pt>
                <c:pt idx="3">
                  <c:v>18</c:v>
                </c:pt>
                <c:pt idx="4">
                  <c:v>19</c:v>
                </c:pt>
                <c:pt idx="5">
                  <c:v>19</c:v>
                </c:pt>
                <c:pt idx="6">
                  <c:v>20</c:v>
                </c:pt>
                <c:pt idx="7">
                  <c:v>20</c:v>
                </c:pt>
                <c:pt idx="8">
                  <c:v>22</c:v>
                </c:pt>
                <c:pt idx="9">
                  <c:v>22</c:v>
                </c:pt>
                <c:pt idx="10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5C-40A7-8671-7DAC285358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943409983"/>
        <c:axId val="943412863"/>
      </c:barChart>
      <c:catAx>
        <c:axId val="943409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3412863"/>
        <c:crosses val="autoZero"/>
        <c:auto val="1"/>
        <c:lblAlgn val="ctr"/>
        <c:lblOffset val="100"/>
        <c:noMultiLvlLbl val="0"/>
      </c:catAx>
      <c:valAx>
        <c:axId val="94341286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3409983"/>
        <c:crosses val="autoZero"/>
        <c:crossBetween val="between"/>
      </c:valAx>
      <c:spPr>
        <a:noFill/>
        <a:ln w="0" cap="sq" cmpd="dbl">
          <a:noFill/>
          <a:miter lim="800000"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4700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6956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5047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666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3596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974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174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114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7BDD69F-9575-4719-AC3C-FB368373BF45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30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2194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454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D69F-9575-4719-AC3C-FB368373BF45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862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F3E97A-8B2D-2A4E-7EBF-B7435818D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821" y="757084"/>
            <a:ext cx="8596668" cy="1320800"/>
          </a:xfrm>
        </p:spPr>
        <p:txBody>
          <a:bodyPr>
            <a:normAutofit/>
          </a:bodyPr>
          <a:lstStyle/>
          <a:p>
            <a:r>
              <a:rPr lang="en-US" sz="4000" b="1" dirty="0"/>
              <a:t>City Hospital Performance &amp; Efficiency Dashboard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25496D-7713-0A5A-0B10-B4A59AD4D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821" y="2576934"/>
            <a:ext cx="4612966" cy="1700097"/>
          </a:xfrm>
        </p:spPr>
        <p:txBody>
          <a:bodyPr>
            <a:noAutofit/>
          </a:bodyPr>
          <a:lstStyle/>
          <a:p>
            <a:r>
              <a:rPr lang="en-US" sz="2400" b="1" dirty="0"/>
              <a:t>Prepared By:</a:t>
            </a:r>
            <a:br>
              <a:rPr lang="en-US" sz="2400" dirty="0"/>
            </a:br>
            <a:r>
              <a:rPr lang="en-US" sz="2400" b="1" dirty="0"/>
              <a:t>Babra Odongo</a:t>
            </a:r>
          </a:p>
          <a:p>
            <a:r>
              <a:rPr lang="en-US" sz="2400" b="1" dirty="0"/>
              <a:t>Data Analyst</a:t>
            </a:r>
          </a:p>
        </p:txBody>
      </p:sp>
    </p:spTree>
    <p:extLst>
      <p:ext uri="{BB962C8B-B14F-4D97-AF65-F5344CB8AC3E}">
        <p14:creationId xmlns:p14="http://schemas.microsoft.com/office/powerpoint/2010/main" val="1203700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E8EF1-8CF8-4EAD-4482-12F0C805A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314" y="688259"/>
            <a:ext cx="8596668" cy="855406"/>
          </a:xfrm>
        </p:spPr>
        <p:txBody>
          <a:bodyPr/>
          <a:lstStyle/>
          <a:p>
            <a:r>
              <a:rPr lang="en-US" b="1" dirty="0"/>
              <a:t>Problem Summary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EE5F90-5C78-B9DC-B883-113B3DA4B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795" y="1838632"/>
            <a:ext cx="11395586" cy="4021394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Doctor workload is unbalanced, with some doctors overworked while others remain underutilized.</a:t>
            </a:r>
          </a:p>
          <a:p>
            <a:r>
              <a:rPr lang="en-US" sz="2400" dirty="0"/>
              <a:t>Medication and test management are inefficient, resulting in drug stockouts, expired inventory, and a high rate of inconclusive laboratory tests.</a:t>
            </a:r>
          </a:p>
          <a:p>
            <a:r>
              <a:rPr lang="en-US" sz="2400" dirty="0"/>
              <a:t>The hospital does not fully understand its patient demographics, causing misallocation of resources like beds and specialized care.</a:t>
            </a:r>
          </a:p>
          <a:p>
            <a:r>
              <a:rPr lang="en-US" sz="2400" dirty="0"/>
              <a:t>Admissions trends are unclear, leading to poor staff scheduling during peak and slow periods</a:t>
            </a:r>
          </a:p>
          <a:p>
            <a:r>
              <a:rPr lang="en-US" sz="2400" dirty="0"/>
              <a:t>Billing and insurance issues persist because underpayments and delays are not easily identified or tracked.</a:t>
            </a:r>
          </a:p>
        </p:txBody>
      </p:sp>
    </p:spTree>
    <p:extLst>
      <p:ext uri="{BB962C8B-B14F-4D97-AF65-F5344CB8AC3E}">
        <p14:creationId xmlns:p14="http://schemas.microsoft.com/office/powerpoint/2010/main" val="3055932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693B6-7CBE-35B3-189F-281A6278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60" y="669154"/>
            <a:ext cx="8596668" cy="924232"/>
          </a:xfrm>
        </p:spPr>
        <p:txBody>
          <a:bodyPr/>
          <a:lstStyle/>
          <a:p>
            <a:r>
              <a:rPr lang="en-US" b="1" dirty="0"/>
              <a:t>Objective of the Analysis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1F1C7-97F0-1312-DC25-AD103B4CB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1907458"/>
            <a:ext cx="11965857" cy="4119716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To identify trends in admissions across days to improve staff scheduling and reduce patient wait times.</a:t>
            </a:r>
          </a:p>
          <a:p>
            <a:r>
              <a:rPr lang="en-US" sz="2400" dirty="0"/>
              <a:t>To review medication usage patterns and laboratory test outcomes to enhance inventory management, reduce waste, and improve diagnostic accuracy.</a:t>
            </a:r>
          </a:p>
          <a:p>
            <a:r>
              <a:rPr lang="en-US" sz="2400" dirty="0"/>
              <a:t>To assess billing and insurance performance in order to detect underpayments, delays, and opportunities for financial improvement.</a:t>
            </a:r>
          </a:p>
          <a:p>
            <a:r>
              <a:rPr lang="en-US" sz="2400" dirty="0"/>
              <a:t>To analyze patient demographics and align hospital resources with the actual needs of different age and gender groups.</a:t>
            </a:r>
          </a:p>
          <a:p>
            <a:r>
              <a:rPr lang="en-US" sz="2400" dirty="0"/>
              <a:t>To evaluate doctor workload distribution and recommend strategies for balancing patient assignments and improving service quality.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14836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F4F8F-F673-A5C6-66E3-6717BF489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5071"/>
            <a:ext cx="10515600" cy="727587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Dataset Overview</a:t>
            </a:r>
            <a:br>
              <a:rPr lang="en-US" b="0" dirty="0">
                <a:effectLst/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59B64-43F9-56C6-5899-5BA3D3E0F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6" y="1946787"/>
            <a:ext cx="9901084" cy="3392129"/>
          </a:xfrm>
        </p:spPr>
        <p:txBody>
          <a:bodyPr>
            <a:normAutofit/>
          </a:bodyPr>
          <a:lstStyle/>
          <a:p>
            <a:r>
              <a:rPr lang="en-US" b="1" dirty="0"/>
              <a:t>The primary analysis </a:t>
            </a:r>
            <a:r>
              <a:rPr lang="en-US" dirty="0"/>
              <a:t>is based on one  main dataset (the Data sheet).</a:t>
            </a:r>
          </a:p>
          <a:p>
            <a:r>
              <a:rPr lang="en-US" b="1" dirty="0"/>
              <a:t>Main columns used:</a:t>
            </a:r>
            <a:r>
              <a:rPr lang="en-US" dirty="0"/>
              <a:t> Key columns include Patient ID, Age, Gender, Insurance Provider, Billing Amount, Admission Date, Discharge Date, Medical Condition, Doctor, and Test Results.</a:t>
            </a:r>
          </a:p>
          <a:p>
            <a:r>
              <a:rPr lang="en-US" b="1" dirty="0"/>
              <a:t>Dataset cleaning performed: </a:t>
            </a:r>
            <a:r>
              <a:rPr lang="en-US" dirty="0"/>
              <a:t>No duplicate records and missing values in critical columns (e.g., Age, Gender), and added columns; age group, waiting time and day of the week</a:t>
            </a:r>
          </a:p>
        </p:txBody>
      </p:sp>
    </p:spTree>
    <p:extLst>
      <p:ext uri="{BB962C8B-B14F-4D97-AF65-F5344CB8AC3E}">
        <p14:creationId xmlns:p14="http://schemas.microsoft.com/office/powerpoint/2010/main" val="2164255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87C66-3724-797C-B302-12D4EFA76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882291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 Key Metrics (KPIs) </a:t>
            </a:r>
            <a:br>
              <a:rPr lang="en-US" b="0" dirty="0">
                <a:effectLst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441BE-6A26-07E8-0447-559576238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42" y="2163097"/>
            <a:ext cx="10822858" cy="3185651"/>
          </a:xfrm>
        </p:spPr>
        <p:txBody>
          <a:bodyPr>
            <a:normAutofit/>
          </a:bodyPr>
          <a:lstStyle/>
          <a:p>
            <a:r>
              <a:rPr lang="en-US" sz="2400" dirty="0"/>
              <a:t>Total number of patients  5500</a:t>
            </a:r>
          </a:p>
          <a:p>
            <a:r>
              <a:rPr lang="en-US" sz="2400" dirty="0"/>
              <a:t>Average Waiting Time   16 Days</a:t>
            </a:r>
          </a:p>
          <a:p>
            <a:r>
              <a:rPr lang="en-US" sz="2400" dirty="0"/>
              <a:t>Total number of Doctors   5500</a:t>
            </a:r>
          </a:p>
        </p:txBody>
      </p:sp>
    </p:spTree>
    <p:extLst>
      <p:ext uri="{BB962C8B-B14F-4D97-AF65-F5344CB8AC3E}">
        <p14:creationId xmlns:p14="http://schemas.microsoft.com/office/powerpoint/2010/main" val="1073278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FC89D95-7EC3-449C-BF2E-C505F18853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2152347"/>
              </p:ext>
            </p:extLst>
          </p:nvPr>
        </p:nvGraphicFramePr>
        <p:xfrm>
          <a:off x="0" y="212990"/>
          <a:ext cx="6666271" cy="43393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EABCFD7-0E9D-4B55-B017-BD00DC2FA5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7907231"/>
              </p:ext>
            </p:extLst>
          </p:nvPr>
        </p:nvGraphicFramePr>
        <p:xfrm>
          <a:off x="6754761" y="212990"/>
          <a:ext cx="5319252" cy="39722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19045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1163698-BD6F-4B6F-B9DD-F619295656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7023082"/>
              </p:ext>
            </p:extLst>
          </p:nvPr>
        </p:nvGraphicFramePr>
        <p:xfrm>
          <a:off x="88489" y="206477"/>
          <a:ext cx="8416414" cy="4906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34563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CDFF277-4CB0-4541-A6A2-E14C8DB716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0992640"/>
              </p:ext>
            </p:extLst>
          </p:nvPr>
        </p:nvGraphicFramePr>
        <p:xfrm>
          <a:off x="1" y="0"/>
          <a:ext cx="7187380" cy="3333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4655923-BACD-4A6A-B8A6-F42FAE7E3E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5471398"/>
              </p:ext>
            </p:extLst>
          </p:nvPr>
        </p:nvGraphicFramePr>
        <p:xfrm>
          <a:off x="3372465" y="3215148"/>
          <a:ext cx="8141109" cy="2871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58726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532EF10-38D6-442C-9EB2-447E18091D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4456987"/>
              </p:ext>
            </p:extLst>
          </p:nvPr>
        </p:nvGraphicFramePr>
        <p:xfrm>
          <a:off x="432618" y="688259"/>
          <a:ext cx="8721213" cy="44519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91173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164DD-B1D2-FE26-2D41-F46BDE3FC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B31DA-2F3A-C592-2D0D-A802B27FC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4"/>
            <a:ext cx="12192000" cy="4301240"/>
          </a:xfrm>
        </p:spPr>
        <p:txBody>
          <a:bodyPr>
            <a:normAutofit fontScale="25000" lnSpcReduction="20000"/>
          </a:bodyPr>
          <a:lstStyle/>
          <a:p>
            <a:r>
              <a:rPr lang="en-US" sz="8000" dirty="0"/>
              <a:t>Most patients are 50–59-year-old females</a:t>
            </a:r>
          </a:p>
          <a:p>
            <a:r>
              <a:rPr lang="en-US" sz="8000" dirty="0"/>
              <a:t>Highest admissions occur on Thursdays, highlighting peak demand days.</a:t>
            </a:r>
          </a:p>
          <a:p>
            <a:r>
              <a:rPr lang="en-US" sz="8000" dirty="0"/>
              <a:t>Aetna Insurance shows lower payment amounts compared to other providers, while Cigna has the highest billing payments. </a:t>
            </a:r>
          </a:p>
          <a:p>
            <a:r>
              <a:rPr lang="en-US" sz="8000" dirty="0"/>
              <a:t>Medicare covers the largest number of patients, whereas Cigna has the fewest.</a:t>
            </a:r>
          </a:p>
          <a:p>
            <a:r>
              <a:rPr lang="en-US" sz="8000" dirty="0"/>
              <a:t>Top 10 doctors handle the majority of patients, while some doctors have significantly fewer cases.</a:t>
            </a:r>
          </a:p>
          <a:p>
            <a:r>
              <a:rPr lang="en-US" sz="8000" dirty="0"/>
              <a:t>Lipitor is used most frequently and should be prioritized for restocking.</a:t>
            </a:r>
          </a:p>
          <a:p>
            <a:r>
              <a:rPr lang="en-US" sz="8000" dirty="0"/>
              <a:t>Emergency cases spike on Tuesdays, requiring staff and resource planning.</a:t>
            </a:r>
          </a:p>
          <a:p>
            <a:r>
              <a:rPr lang="en-US" sz="8000" dirty="0"/>
              <a:t>Out of 55,500 tests, 19,425 are inconclusive, indicating potential issues with lab processes or equipment(Approximately 35% of tests are inconclusive)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837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919A4-5264-EB7E-F920-1CE9E2954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D1788-F56D-854F-70BD-39FB69E94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1853754"/>
            <a:ext cx="11189109" cy="4311072"/>
          </a:xfrm>
        </p:spPr>
        <p:txBody>
          <a:bodyPr/>
          <a:lstStyle/>
          <a:p>
            <a:r>
              <a:rPr lang="en-US" dirty="0"/>
              <a:t>Increase staff availability on Thursdays to manage peak admissions and also allocate more resources on Tuesdays for emergency cases.</a:t>
            </a:r>
          </a:p>
          <a:p>
            <a:r>
              <a:rPr lang="en-US" dirty="0"/>
              <a:t>Prioritize Lipitor for restocking due to high usage.</a:t>
            </a:r>
          </a:p>
          <a:p>
            <a:r>
              <a:rPr lang="en-US" dirty="0"/>
              <a:t>Develop targeted care programs for 50–59-year-old female patients, the largest demographic group.</a:t>
            </a:r>
          </a:p>
          <a:p>
            <a:r>
              <a:rPr lang="en-US" dirty="0"/>
              <a:t>Investigate why Aetna Insurance payments are lower and assess potential adjustments or follow-ups to maximize reimbursements. </a:t>
            </a:r>
          </a:p>
          <a:p>
            <a:r>
              <a:rPr lang="en-US" dirty="0"/>
              <a:t>Consider redistributing patients or providing additional support to prevent burnout and maintain quality of care.</a:t>
            </a:r>
          </a:p>
          <a:p>
            <a:r>
              <a:rPr lang="en-US" dirty="0"/>
              <a:t>Train lab staff on proper testing procedures to reduce inconclusive results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205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B1DBC-B099-3E53-A655-53A8176D7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85" y="776750"/>
            <a:ext cx="8596668" cy="963561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Conclusion</a:t>
            </a:r>
            <a:br>
              <a:rPr lang="en-US" b="0" dirty="0">
                <a:effectLst/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DAD4496-4168-389F-3F7B-83338B299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56619"/>
            <a:ext cx="10964060" cy="40017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Thank you to the board for your time and attention.</a:t>
            </a:r>
          </a:p>
          <a:p>
            <a:pPr marL="0" indent="0">
              <a:buNone/>
            </a:pPr>
            <a:r>
              <a:rPr lang="en-US" sz="2400" dirty="0"/>
              <a:t>This dashboard offers a transparent view of the current crisis, making it easier to identify critical pressure points.</a:t>
            </a:r>
          </a:p>
          <a:p>
            <a:pPr marL="0" indent="0">
              <a:buNone/>
            </a:pPr>
            <a:r>
              <a:rPr lang="en-US" sz="2400" dirty="0"/>
              <a:t>By tracking patient admissions and resource usage in real time, we can streamline operations and improve overall hospital efficiency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806578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1762</TotalTime>
  <Words>589</Words>
  <Application>Microsoft Office PowerPoint</Application>
  <PresentationFormat>Widescreen</PresentationFormat>
  <Paragraphs>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Gallery</vt:lpstr>
      <vt:lpstr>City Hospital Performance &amp; Efficiency Dashboard</vt:lpstr>
      <vt:lpstr>Problem Summary </vt:lpstr>
      <vt:lpstr>Objective of the Analysis </vt:lpstr>
      <vt:lpstr>Dataset Overview  </vt:lpstr>
      <vt:lpstr> Key Metrics (KPIs)  </vt:lpstr>
      <vt:lpstr>PowerPoint Presentation</vt:lpstr>
      <vt:lpstr>PowerPoint Presentation</vt:lpstr>
      <vt:lpstr>PowerPoint Presentation</vt:lpstr>
      <vt:lpstr>PowerPoint Presentation</vt:lpstr>
      <vt:lpstr>Summary of Findings</vt:lpstr>
      <vt:lpstr>Recommendations </vt:lpstr>
      <vt:lpstr>Conclusion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Babra Odongo</dc:creator>
  <cp:lastModifiedBy>Babra Odongo</cp:lastModifiedBy>
  <cp:revision>1</cp:revision>
  <dcterms:created xsi:type="dcterms:W3CDTF">2025-11-20T16:44:00Z</dcterms:created>
  <dcterms:modified xsi:type="dcterms:W3CDTF">2025-11-21T22:06:10Z</dcterms:modified>
</cp:coreProperties>
</file>